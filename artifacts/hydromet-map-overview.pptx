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is not one map for one dataset. It is a reusable application framework that preserves the scientific context of an interactive view.
[Sources]
- C:\Users\m3pan\Desktop\projects\hydromet-map\README.md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application as a stateful analytical workspace. Each interaction contributes context that can later be bookmarked.
[Sources]
- C:\Users\m3pan\Desktop\projects\hydromet-map\README.md
- C:\Users\m3pan\Desktop\projects\hydromet-map\docs/architecture.md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UI exposes both camera state and domain-specific selectors. Layer-family controls keep related choices bundled with their data.
[Sources]
- C:\Users\m3pan\Desktop\projects\hydromet-map\src/config/mapConfig.js
- C:\Users\m3pan\Desktop\projects\hydromet-map\src/components/MapCanvas.jsx
- C:\Users\m3pan\Desktop\projects\hydromet-map\src/components/controls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click-to-popup pattern. Plotly provides hover, axis controls, trace toggles, and profile plots while the application owns identity and bookmark state.
[Sources]
- C:\Users\m3pan\Desktop\projects\hydromet-map\src/components/popups
- C:\Users\m3pan\Desktop\projects\hydromet-map\src/lib
- C:\Users\m3pan\Desktop\projects\hydromet-map\docs/architecture.md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separate goals but share one architectural requirement: state must be explicit, composable, and tied to stable layer identities.
[Sources]
- C:\Users\m3pan\Desktop\projects\hydromet-map\README.md
- C:\Users\m3pan\Desktop\projects\hydromet-map\docs/bookmarks.md
- C:\Users\m3pan\Desktop\projects\hydromet-map\src/lib/hydro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layer is the rendering unit. A layer family coordinates related layers and selectors. A project composes families, standalone layers, map defaults, and tools into a user-facing experience.
[Sources]
- C:\Users\m3pan\Desktop\projects\hydromet-map\src/config/mapConfig.js
- C:\Users\m3pan\Desktop\projects\hydromet-map\docs/architecture.md
- C:\Users\m3pan\Desktop\projects\hydromet-map\.codex/skills/hydromet-map-config-workflow/SKILL.md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boundary is configuration versus runtime. Registries resolve stable IDs into rendering and popup modules. Data can be served as files or tiles without changing the project model.
[Sources]
- C:\Users\m3pan\Desktop\projects\hydromet-map\src/config/mapConfig.js
- C:\Users\m3pan\Desktop\projects\hydromet-map\src/components/MapCanvas.jsx
- C:\Users\m3pan\Desktop\projects\hydromet-map\src/components/layers
- C:\Users\m3pan\Desktop\projects\hydromet-map\src/components/popups
- C:\Users\m3pan\Desktop\projects\hydromet-map\docs/architecture.md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Bookmarks serialize active, user-visible state. This makes a view portable between collaborators and useful in reports, QA, and operational handoffs.
[Sources]
- C:\Users\m3pan\Desktop\projects\hydromet-map\docs/bookmarks.md
- C:\Users\m3pan\Desktop\projects\hydromet-map\src/lib/bookmarkState.js
- C:\Users\m3pan\Desktop\projects\hydromet-map\src/config/mapConfig.js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Hydrography tools reuse the map’s core abstractions: user input, computed geometry, visible overlay, and explicit state.
[Sources]
- C:\Users\m3pan\Desktop\projects\hydromet-map\src/lib/hydro
- C:\Users\m3pan\Desktop\projects\hydromet-map\src/components/controls
- C:\Users\m3pan\Desktop\projects\hydromet-map\src/components/MapCanvas.jsx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principles keep specialized scientific behavior possible without turning each dataset into a one-off application.
[Sources]
- C:\Users\m3pan\Desktop\projects\hydromet-map\AGENTS.md
- C:\Users\m3pan\Desktop\projects\hydromet-map\docs/architecture.md
- C:\Users\m3pan\Desktop\projects\hydromet-map\.codex/skills/hydromet-map-config-workflow/SKILL.md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high-level: browser-native rendering, file/tile-based delivery, and preprocessing where scientific formats need conversion.
[Sources]
- C:\Users\m3pan\Desktop\projects\hydromet-map\package.json
- C:\Users\m3pan\Desktop\projects\hydromet-map\tools/README.md
- C:\Users\m3pan\Desktop\projects\hydromet-map\tools/ar_recon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is most useful when project conventions are encoded. The hydromet-map skill routes work through the correct registries and requires build/bookmark checks.
[Sources]
- C:\Users\m3pan\Desktop\projects\hydromet-map\AGENTS.md
- C:\Users\m3pan\Desktop\projects\hydromet-map\.codex/skills/hydromet-map-config-workflow/SKILL.md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current project is listed here. Projects choose their default extent, basemap, layer families, standalone layers, and enabled tools.
[Sources]
- C:\Users\m3pan\Desktop\projects\hydromet-map\src/config/mapConfig.js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family is not just a folder: it defines selectors, linked-layer behavior, visibility, and bookmark fields.
[Sources]
- C:\Users\m3pan\Desktop\projects\hydromet-map\src/config/mapConfig.js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appendix lists the non-global-network layers and the custom 3D layer. Display names match the configuration.
[Sources]
- C:\Users\m3pan\Desktop\projects\hydromet-map\src/config/mapConfig.js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completes the layer inventory: 33 layers total, including 14 vector-tile layers.
[Sources]
- C:\Users\m3pan\Desktop\projects\hydromet-map\src/config/mapConfig.js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live website examples. Choose demonstrations that show different architectural strengths: family controls, time-series popup, 3D AR Recon, bookmarking, and a hydrography workflow.
[Sources]
- C:\Users\m3pan\Desktop\projects\hydromet-map\README.md
- C:\Users\m3pan\Desktop\projects\hydromet-map\src/config/mapConfig.js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0" cy="0"/>
          </a:xfrm>
          <a:prstGeom prst="line">
            <a:avLst/>
          </a:prstGeom>
          <a:noFill/>
          <a:ln w="50800">
            <a:solidFill>
              <a:srgbClr val="2F6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87000" y="2286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870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HYDROMET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6539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17D"/>
                </a:solidFill>
              </a:rPr>
              <a:t>CW3E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315200" y="-320040"/>
            <a:ext cx="5303520" cy="5303520"/>
          </a:xfrm>
          <a:prstGeom prst="arc">
            <a:avLst/>
          </a:prstGeom>
          <a:solidFill>
            <a:srgbClr val="163B33">
              <a:alpha val="0"/>
            </a:srgbClr>
          </a:solidFill>
          <a:ln w="25400">
            <a:solidFill>
              <a:srgbClr val="76A897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300000">
            <a:off x="8229600" y="1005840"/>
            <a:ext cx="4389120" cy="4389120"/>
          </a:xfrm>
          <a:prstGeom prst="arc">
            <a:avLst/>
          </a:prstGeom>
          <a:solidFill>
            <a:srgbClr val="163B33">
              <a:alpha val="0"/>
            </a:srgbClr>
          </a:solidFill>
          <a:ln w="15240">
            <a:solidFill>
              <a:srgbClr val="C8DDD5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8138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INTERACTIVE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HYDROMETEOROLOGICAL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MAPPING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E5E0"/>
                </a:solidFill>
              </a:rPr>
              <a:t>A reusable framework for exploring, analyzing, and sharing heterogeneous geospatial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9194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BC1B4"/>
                </a:solidFill>
              </a:rPr>
              <a:t>Architecture • design philosophy • current capabilities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F6B5B"/>
                </a:solidFill>
              </a:rPr>
              <a:t>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312B"/>
                </a:solidFill>
              </a:rPr>
              <a:t>The map is the analytical workspace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8312B"/>
                </a:solidFill>
              </a:rPr>
              <a:t>A static map answers “where?”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8312B"/>
                </a:solidFill>
              </a:rPr>
              <a:t>An interactive state answers “where, when, which product, and under what view?”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1520" y="3950208"/>
            <a:ext cx="594360" cy="594360"/>
          </a:xfrm>
          <a:prstGeom prst="ellipse">
            <a:avLst/>
          </a:prstGeom>
          <a:solidFill>
            <a:srgbClr val="2F6B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40965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709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2B"/>
                </a:solidFill>
              </a:rPr>
              <a:t>EXPLORE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0474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706A"/>
                </a:solidFill>
              </a:rPr>
              <a:t>Change view and projection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16352" y="4096512"/>
            <a:ext cx="493776" cy="310896"/>
          </a:xfrm>
          <a:prstGeom prst="chevron">
            <a:avLst/>
          </a:prstGeom>
          <a:solidFill>
            <a:srgbClr val="92AAA3"/>
          </a:solidFill>
          <a:ln w="12700">
            <a:solidFill>
              <a:srgbClr val="92AA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47872" y="3950208"/>
            <a:ext cx="594360" cy="594360"/>
          </a:xfrm>
          <a:prstGeom prst="ellipse">
            <a:avLst/>
          </a:prstGeom>
          <a:solidFill>
            <a:srgbClr val="477D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40965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4709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2B"/>
                </a:solidFill>
              </a:rPr>
              <a:t>SELECT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47872" y="50474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706A"/>
                </a:solidFill>
              </a:rPr>
              <a:t>Choose data and parameters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32704" y="4096512"/>
            <a:ext cx="493776" cy="310896"/>
          </a:xfrm>
          <a:prstGeom prst="chevron">
            <a:avLst/>
          </a:prstGeom>
          <a:solidFill>
            <a:srgbClr val="92AAA3"/>
          </a:solidFill>
          <a:ln w="12700">
            <a:solidFill>
              <a:srgbClr val="92AA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3950208"/>
            <a:ext cx="594360" cy="594360"/>
          </a:xfrm>
          <a:prstGeom prst="ellipse">
            <a:avLst/>
          </a:prstGeom>
          <a:solidFill>
            <a:srgbClr val="A8735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40965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64224" y="4709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2B"/>
                </a:solidFill>
              </a:rPr>
              <a:t>INSPECT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4224" y="50474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706A"/>
                </a:solidFill>
              </a:rPr>
              <a:t>Open profiles and time series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449056" y="4096512"/>
            <a:ext cx="493776" cy="310896"/>
          </a:xfrm>
          <a:prstGeom prst="chevron">
            <a:avLst/>
          </a:prstGeom>
          <a:solidFill>
            <a:srgbClr val="92AAA3"/>
          </a:solidFill>
          <a:ln w="12700">
            <a:solidFill>
              <a:srgbClr val="92AAA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0576" y="3950208"/>
            <a:ext cx="594360" cy="594360"/>
          </a:xfrm>
          <a:prstGeom prst="ellipse">
            <a:avLst/>
          </a:prstGeom>
          <a:solidFill>
            <a:srgbClr val="6F7C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0304" y="40965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80576" y="4709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2B"/>
                </a:solidFill>
              </a:rPr>
              <a:t>SHARE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0576" y="50474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8706A"/>
                </a:solidFill>
              </a:rPr>
              <a:t>Reproduce the same state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F6B5B"/>
                </a:solidFill>
              </a:rPr>
              <a:t>INTERACTION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312B"/>
                </a:solidFill>
              </a:rPr>
              <a:t>Goal 1 — Make exploration genuinely interactive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691640"/>
            <a:ext cx="73152" cy="365760"/>
          </a:xfrm>
          <a:prstGeom prst="rect">
            <a:avLst/>
          </a:prstGeom>
          <a:solidFill>
            <a:srgbClr val="2F6B5B"/>
          </a:solidFill>
          <a:ln w="12700">
            <a:solidFill>
              <a:srgbClr val="2F6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91640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Navigate the world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203704"/>
            <a:ext cx="3063240" cy="33924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Location • zoom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Pitch • bearing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Mercator or globe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3D terrain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5112" y="15087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9704" y="1691640"/>
            <a:ext cx="73152" cy="365760"/>
          </a:xfrm>
          <a:prstGeom prst="rect">
            <a:avLst/>
          </a:prstGeom>
          <a:solidFill>
            <a:srgbClr val="477D96"/>
          </a:solidFill>
          <a:ln w="12700">
            <a:solidFill>
              <a:srgbClr val="477D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1691640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Compose the map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53712" y="2203704"/>
            <a:ext cx="3063240" cy="33924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Flat • terrain • satellite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One or many layers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Layer visibility and order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Family-specific controls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55864" y="150876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0456" y="1691640"/>
            <a:ext cx="73152" cy="365760"/>
          </a:xfrm>
          <a:prstGeom prst="rect">
            <a:avLst/>
          </a:prstGeom>
          <a:solidFill>
            <a:srgbClr val="A8735D"/>
          </a:solidFill>
          <a:ln w="12700">
            <a:solidFill>
              <a:srgbClr val="A873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3336" y="1691640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Choose the data slice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84464" y="2203704"/>
            <a:ext cx="3063240" cy="33924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Date • product • variable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Ensemble • aircraft • flight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Vertical exaggeration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Other layer-specific dimensions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F6B5B"/>
                </a:solidFill>
              </a:rPr>
              <a:t>TIME SERIES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312B"/>
                </a:solidFill>
              </a:rPr>
              <a:t>From a map feature to an explorable profile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2487168" cy="2651760"/>
          </a:xfrm>
          <a:prstGeom prst="roundRect">
            <a:avLst>
              <a:gd name="adj" fmla="val 2941"/>
            </a:avLst>
          </a:prstGeom>
          <a:solidFill>
            <a:srgbClr val="DCE9E3"/>
          </a:solidFill>
          <a:ln w="12700">
            <a:solidFill>
              <a:srgbClr val="C9D6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6B5B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41248" y="2679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2B"/>
                </a:solidFill>
              </a:rPr>
              <a:t>CLICK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3172968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8706A"/>
                </a:solidFill>
              </a:rPr>
              <a:t>A station, river, well, or dropsonde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91256" y="2999232"/>
            <a:ext cx="301752" cy="310896"/>
          </a:xfrm>
          <a:prstGeom prst="chevron">
            <a:avLst/>
          </a:prstGeom>
          <a:solidFill>
            <a:srgbClr val="92AAA3"/>
          </a:solidFill>
          <a:ln w="12700">
            <a:solidFill>
              <a:srgbClr val="92AA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1296" y="1828800"/>
            <a:ext cx="2487168" cy="2651760"/>
          </a:xfrm>
          <a:prstGeom prst="roundRect">
            <a:avLst>
              <a:gd name="adj" fmla="val 2941"/>
            </a:avLst>
          </a:prstGeom>
          <a:solidFill>
            <a:srgbClr val="DDEAF1"/>
          </a:solidFill>
          <a:ln w="12700">
            <a:solidFill>
              <a:srgbClr val="C9D6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4176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6B5B"/>
                </a:solidFill>
              </a:rPr>
              <a:t>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694176" y="2679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2B"/>
                </a:solidFill>
              </a:rPr>
              <a:t>OPEN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94176" y="3172968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8706A"/>
                </a:solidFill>
              </a:rPr>
              <a:t>A linked profile or time-series popup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44184" y="2999232"/>
            <a:ext cx="301752" cy="310896"/>
          </a:xfrm>
          <a:prstGeom prst="chevron">
            <a:avLst/>
          </a:prstGeom>
          <a:solidFill>
            <a:srgbClr val="92AAA3"/>
          </a:solidFill>
          <a:ln w="12700">
            <a:solidFill>
              <a:srgbClr val="92AA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4224" y="1828800"/>
            <a:ext cx="2487168" cy="2651760"/>
          </a:xfrm>
          <a:prstGeom prst="roundRect">
            <a:avLst>
              <a:gd name="adj" fmla="val 2941"/>
            </a:avLst>
          </a:prstGeom>
          <a:solidFill>
            <a:srgbClr val="DCE9E3"/>
          </a:solidFill>
          <a:ln w="12700">
            <a:solidFill>
              <a:srgbClr val="C9D6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6B5B"/>
                </a:solidFill>
              </a:rPr>
              <a:t>3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547104" y="2679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2B"/>
                </a:solidFill>
              </a:rPr>
              <a:t>TUNE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47104" y="3172968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8706A"/>
                </a:solidFill>
              </a:rPr>
              <a:t>Variables, tabs, x/y ranges, hover mode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897112" y="2999232"/>
            <a:ext cx="301752" cy="310896"/>
          </a:xfrm>
          <a:prstGeom prst="chevron">
            <a:avLst/>
          </a:prstGeom>
          <a:solidFill>
            <a:srgbClr val="92AAA3"/>
          </a:solidFill>
          <a:ln w="12700">
            <a:solidFill>
              <a:srgbClr val="92AA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17152" y="1828800"/>
            <a:ext cx="2487168" cy="2651760"/>
          </a:xfrm>
          <a:prstGeom prst="roundRect">
            <a:avLst>
              <a:gd name="adj" fmla="val 2941"/>
            </a:avLst>
          </a:prstGeom>
          <a:solidFill>
            <a:srgbClr val="DDEAF1"/>
          </a:solidFill>
          <a:ln w="12700">
            <a:solidFill>
              <a:srgbClr val="C9D6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00032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6B5B"/>
                </a:solidFill>
              </a:rPr>
              <a:t>4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400032" y="2679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2B"/>
                </a:solidFill>
              </a:rPr>
              <a:t>READ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00032" y="3172968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8706A"/>
                </a:solidFill>
              </a:rPr>
              <a:t>Exact values and coordinated traces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5120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8312B"/>
                </a:solidFill>
              </a:rPr>
              <a:t>The plot is not a separate application—it inherits the map selection and can be restored with the bookmark.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F6B5B"/>
                </a:solidFill>
              </a:rPr>
              <a:t>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312B"/>
                </a:solidFill>
              </a:rPr>
              <a:t>Goals 2–4 — Broaden the analytical surface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91640"/>
            <a:ext cx="73152" cy="365760"/>
          </a:xfrm>
          <a:prstGeom prst="rect">
            <a:avLst/>
          </a:prstGeom>
          <a:solidFill>
            <a:srgbClr val="2F6B5B"/>
          </a:solidFill>
          <a:ln w="12700">
            <a:solidFill>
              <a:srgbClr val="2F6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91640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Many data models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203704"/>
            <a:ext cx="3063240" cy="34838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Raster overlays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Vector features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Raster and vector tiles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Time series and tables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Custom 3D objects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07992" y="1691640"/>
            <a:ext cx="73152" cy="365760"/>
          </a:xfrm>
          <a:prstGeom prst="rect">
            <a:avLst/>
          </a:prstGeom>
          <a:solidFill>
            <a:srgbClr val="477D96"/>
          </a:solidFill>
          <a:ln w="12700">
            <a:solidFill>
              <a:srgbClr val="477D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691640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Reproducible sharing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2203704"/>
            <a:ext cx="3063240" cy="34838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Camera and projection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Visible layers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Data-family selections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Popup identity and tab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Stable bookmark URL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11312" y="1691640"/>
            <a:ext cx="73152" cy="365760"/>
          </a:xfrm>
          <a:prstGeom prst="rect">
            <a:avLst/>
          </a:prstGeom>
          <a:solidFill>
            <a:srgbClr val="A8735D"/>
          </a:solidFill>
          <a:ln w="12700">
            <a:solidFill>
              <a:srgbClr val="A873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691640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Basic hydrography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75320" y="2203704"/>
            <a:ext cx="3063240" cy="34838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Identify contributing basin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Trace upstream/downstream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Inspect river networks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Overlay or export results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F6B5B"/>
                </a:solidFill>
              </a:rPr>
              <a:t>CORE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312B"/>
                </a:solidFill>
              </a:rPr>
              <a:t>Reusable configuration: layer → family → project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DCE9E3"/>
          </a:solidFill>
          <a:ln w="12700">
            <a:solidFill>
              <a:srgbClr val="C5D2C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92024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98882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12B"/>
                </a:solidFill>
              </a:rPr>
              <a:t>LAYER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312B"/>
                </a:solidFill>
              </a:rPr>
              <a:t>How one dataset renders and behaves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391363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source • style • popup • legend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959352" y="3154680"/>
            <a:ext cx="384048" cy="310896"/>
          </a:xfrm>
          <a:prstGeom prst="chevron">
            <a:avLst/>
          </a:prstGeom>
          <a:solidFill>
            <a:srgbClr val="92AAA3"/>
          </a:solidFill>
          <a:ln w="12700">
            <a:solidFill>
              <a:srgbClr val="92AA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600200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DDEAF1"/>
          </a:solidFill>
          <a:ln w="12700">
            <a:solidFill>
              <a:srgbClr val="C5D2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18888" y="192024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98882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12B"/>
                </a:solidFill>
              </a:rPr>
              <a:t>LAYER FAMILY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18888" y="2651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312B"/>
                </a:solidFill>
              </a:rPr>
              <a:t>How related layers share controls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818888" y="391363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date • product • variable • linked layers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0" y="3154680"/>
            <a:ext cx="384048" cy="310896"/>
          </a:xfrm>
          <a:prstGeom prst="chevron">
            <a:avLst/>
          </a:prstGeom>
          <a:solidFill>
            <a:srgbClr val="92AAA3"/>
          </a:solidFill>
          <a:ln w="12700">
            <a:solidFill>
              <a:srgbClr val="92AAA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11896" y="1600200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EFE4D5"/>
          </a:solidFill>
          <a:ln w="12700">
            <a:solidFill>
              <a:srgbClr val="C5D2C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31936" y="192024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05088" y="198882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12B"/>
                </a:solidFill>
              </a:rPr>
              <a:t>PROJECT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31936" y="2651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8312B"/>
                </a:solidFill>
              </a:rPr>
              <a:t>Which capabilities form an experience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631936" y="3913632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extent • basemap • tools • defaults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286000" y="56692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6B5B"/>
                </a:solidFill>
              </a:rPr>
              <a:t>Reuse grows upward; implementation detail stays downward.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F6B5B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312B"/>
                </a:solidFill>
              </a:rPr>
              <a:t>Runtime architecture keeps configuration separate from rendering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097280" y="1325880"/>
            <a:ext cx="10012680" cy="795528"/>
          </a:xfrm>
          <a:prstGeom prst="roundRect">
            <a:avLst>
              <a:gd name="adj" fmla="val 6897"/>
            </a:avLst>
          </a:prstGeom>
          <a:solidFill>
            <a:srgbClr val="EFE4D5"/>
          </a:solidFill>
          <a:ln w="12700">
            <a:solidFill>
              <a:srgbClr val="C9D5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53312" y="149961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12B"/>
                </a:solidFill>
              </a:rPr>
              <a:t>PROJECT + BOOKMARK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49040" y="1463040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8706A"/>
                </a:solidFill>
              </a:rPr>
              <a:t>Select configuration and restore visible state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79592" y="2121408"/>
            <a:ext cx="347472" cy="320040"/>
          </a:xfrm>
          <a:prstGeom prst="downArrow">
            <a:avLst/>
          </a:prstGeom>
          <a:solidFill>
            <a:srgbClr val="7E9B91"/>
          </a:solidFill>
          <a:ln w="12700">
            <a:solidFill>
              <a:srgbClr val="7E9B9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496312"/>
            <a:ext cx="10012680" cy="795528"/>
          </a:xfrm>
          <a:prstGeom prst="roundRect">
            <a:avLst>
              <a:gd name="adj" fmla="val 6897"/>
            </a:avLst>
          </a:prstGeom>
          <a:solidFill>
            <a:srgbClr val="DDEAF1"/>
          </a:solidFill>
          <a:ln w="12700">
            <a:solidFill>
              <a:srgbClr val="C9D5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26700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12B"/>
                </a:solidFill>
              </a:rPr>
              <a:t>APP STATE + REGISTRIES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2633472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8706A"/>
                </a:solidFill>
              </a:rPr>
              <a:t>Resolve projects, families, layers, popups, legends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79592" y="3291840"/>
            <a:ext cx="347472" cy="320040"/>
          </a:xfrm>
          <a:prstGeom prst="downArrow">
            <a:avLst/>
          </a:prstGeom>
          <a:solidFill>
            <a:srgbClr val="7E9B91"/>
          </a:solidFill>
          <a:ln w="12700">
            <a:solidFill>
              <a:srgbClr val="7E9B9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666744"/>
            <a:ext cx="10012680" cy="795528"/>
          </a:xfrm>
          <a:prstGeom prst="roundRect">
            <a:avLst>
              <a:gd name="adj" fmla="val 6897"/>
            </a:avLst>
          </a:prstGeom>
          <a:solidFill>
            <a:srgbClr val="DCE9E3"/>
          </a:solidFill>
          <a:ln w="12700">
            <a:solidFill>
              <a:srgbClr val="C9D5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3312" y="38404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12B"/>
                </a:solidFill>
              </a:rPr>
              <a:t>MAP CANVAS + UI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3803904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8706A"/>
                </a:solidFill>
              </a:rPr>
              <a:t>Render MapLibre layers, Three.js objects, Plotly views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79592" y="4462272"/>
            <a:ext cx="347472" cy="320040"/>
          </a:xfrm>
          <a:prstGeom prst="downArrow">
            <a:avLst/>
          </a:prstGeom>
          <a:solidFill>
            <a:srgbClr val="7E9B91"/>
          </a:solidFill>
          <a:ln w="12700">
            <a:solidFill>
              <a:srgbClr val="7E9B9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4837176"/>
            <a:ext cx="10012680" cy="795528"/>
          </a:xfrm>
          <a:prstGeom prst="roundRect">
            <a:avLst>
              <a:gd name="adj" fmla="val 6897"/>
            </a:avLst>
          </a:prstGeom>
          <a:solidFill>
            <a:srgbClr val="EEF2F0"/>
          </a:solidFill>
          <a:ln w="12700">
            <a:solidFill>
              <a:srgbClr val="C9D5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53312" y="50109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12B"/>
                </a:solidFill>
              </a:rPr>
              <a:t>DATA SERVICES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4974336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8706A"/>
                </a:solidFill>
              </a:rPr>
              <a:t>GeoJSON • PMTiles • raster tiles • JSON/CSV • NetCDF-derived products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F6B5B"/>
                </a:solidFill>
              </a:rPr>
              <a:t>SHARING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312B"/>
                </a:solidFill>
              </a:rPr>
              <a:t>A bookmark is a reproducible analytical state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49808" y="164592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DCE9E3"/>
          </a:solidFill>
          <a:ln w="12700">
            <a:solidFill>
              <a:srgbClr val="DCE9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14500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12B"/>
                </a:solidFill>
              </a:rPr>
              <a:t>Camera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11296" y="164592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DDEAF1"/>
          </a:solidFill>
          <a:ln w="12700">
            <a:solidFill>
              <a:srgbClr val="DDEA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84448" y="1714500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12B"/>
                </a:solidFill>
              </a:rPr>
              <a:t>Projection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72784" y="164592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EFE4D5"/>
          </a:solidFill>
          <a:ln w="12700">
            <a:solidFill>
              <a:srgbClr val="EFE4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5936" y="1714500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12B"/>
                </a:solidFill>
              </a:rPr>
              <a:t>Basemap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034272" y="164592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EEF2F0"/>
          </a:solidFill>
          <a:ln w="12700">
            <a:solidFill>
              <a:srgbClr val="EEF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07424" y="1714500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12B"/>
                </a:solidFill>
              </a:rPr>
              <a:t>Visible layers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233172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DCE9E3"/>
          </a:solidFill>
          <a:ln w="12700">
            <a:solidFill>
              <a:srgbClr val="DCE9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00300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12B"/>
                </a:solidFill>
              </a:rPr>
              <a:t>Family selectors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11296" y="233172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DDEAF1"/>
          </a:solidFill>
          <a:ln w="12700">
            <a:solidFill>
              <a:srgbClr val="DDEA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2400300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12B"/>
                </a:solidFill>
              </a:rPr>
              <a:t>Popup target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72784" y="233172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EFE4D5"/>
          </a:solidFill>
          <a:ln w="12700">
            <a:solidFill>
              <a:srgbClr val="EFE4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2400300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12B"/>
                </a:solidFill>
              </a:rPr>
              <a:t>Popup tab/ranges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23560" y="3072384"/>
            <a:ext cx="502920" cy="502920"/>
          </a:xfrm>
          <a:prstGeom prst="downArrow">
            <a:avLst/>
          </a:prstGeom>
          <a:solidFill>
            <a:srgbClr val="2F6B5B"/>
          </a:solidFill>
          <a:ln w="12700">
            <a:solidFill>
              <a:srgbClr val="2F6B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8840" y="3703320"/>
            <a:ext cx="7909560" cy="1234440"/>
          </a:xfrm>
          <a:prstGeom prst="roundRect">
            <a:avLst>
              <a:gd name="adj" fmla="val 5926"/>
            </a:avLst>
          </a:prstGeom>
          <a:solidFill>
            <a:srgbClr val="163B33"/>
          </a:solidFill>
          <a:ln w="12700">
            <a:solidFill>
              <a:srgbClr val="163B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97764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ONE SHAREABLE URL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194560" y="5394960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2F6B5B"/>
                </a:solidFill>
              </a:rPr>
              <a:t>“Open what I was looking at—not merely the application.”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F6B5B"/>
                </a:solidFill>
              </a:rPr>
              <a:t>HYDRO TOOLS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312B"/>
                </a:solidFill>
              </a:rPr>
              <a:t>Hydrography turns a click into network context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325880" y="1600200"/>
            <a:ext cx="1051560" cy="1051560"/>
          </a:xfrm>
          <a:prstGeom prst="ellipse">
            <a:avLst/>
          </a:prstGeom>
          <a:solidFill>
            <a:srgbClr val="E7B8A8"/>
          </a:solidFill>
          <a:ln w="12700">
            <a:solidFill>
              <a:srgbClr val="A9BB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2768" y="18470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312B"/>
                </a:solidFill>
              </a:rPr>
              <a:t>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12B"/>
                </a:solidFill>
              </a:rPr>
              <a:t>POINT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8706A"/>
                </a:solidFill>
              </a:rPr>
              <a:t>Select a location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71800" y="1965960"/>
            <a:ext cx="548640" cy="310896"/>
          </a:xfrm>
          <a:prstGeom prst="chevron">
            <a:avLst/>
          </a:prstGeom>
          <a:solidFill>
            <a:srgbClr val="92AAA3"/>
          </a:solidFill>
          <a:ln w="12700">
            <a:solidFill>
              <a:srgbClr val="92AA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87952" y="1600200"/>
            <a:ext cx="1051560" cy="1051560"/>
          </a:xfrm>
          <a:prstGeom prst="ellipse">
            <a:avLst/>
          </a:prstGeom>
          <a:solidFill>
            <a:srgbClr val="EFE4D5"/>
          </a:solidFill>
          <a:ln w="12700">
            <a:solidFill>
              <a:srgbClr val="A9BB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8470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312B"/>
                </a:solidFill>
              </a:rPr>
              <a:t>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47872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12B"/>
                </a:solidFill>
              </a:rPr>
              <a:t>BASIN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47872" y="342900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8706A"/>
                </a:solidFill>
              </a:rPr>
              <a:t>Identify contributing area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33872" y="1965960"/>
            <a:ext cx="548640" cy="310896"/>
          </a:xfrm>
          <a:prstGeom prst="chevron">
            <a:avLst/>
          </a:prstGeom>
          <a:solidFill>
            <a:srgbClr val="92AAA3"/>
          </a:solidFill>
          <a:ln w="12700">
            <a:solidFill>
              <a:srgbClr val="92AA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0024" y="1600200"/>
            <a:ext cx="1051560" cy="1051560"/>
          </a:xfrm>
          <a:prstGeom prst="ellipse">
            <a:avLst/>
          </a:prstGeom>
          <a:solidFill>
            <a:srgbClr val="DDEAF1"/>
          </a:solidFill>
          <a:ln w="12700">
            <a:solidFill>
              <a:srgbClr val="A9BB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6912" y="18470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312B"/>
                </a:solidFill>
              </a:rPr>
              <a:t>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9944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12B"/>
                </a:solidFill>
              </a:rPr>
              <a:t>NETWORK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9944" y="342900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8706A"/>
                </a:solidFill>
              </a:rPr>
              <a:t>Trace flow paths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95944" y="1965960"/>
            <a:ext cx="548640" cy="310896"/>
          </a:xfrm>
          <a:prstGeom prst="chevron">
            <a:avLst/>
          </a:prstGeom>
          <a:solidFill>
            <a:srgbClr val="92AAA3"/>
          </a:solidFill>
          <a:ln w="12700">
            <a:solidFill>
              <a:srgbClr val="92AA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12096" y="1600200"/>
            <a:ext cx="1051560" cy="1051560"/>
          </a:xfrm>
          <a:prstGeom prst="ellipse">
            <a:avLst/>
          </a:prstGeom>
          <a:solidFill>
            <a:srgbClr val="DCE9E3"/>
          </a:solidFill>
          <a:ln w="12700">
            <a:solidFill>
              <a:srgbClr val="A9BB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58984" y="18470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312B"/>
                </a:solidFill>
              </a:rPr>
              <a:t>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72016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312B"/>
                </a:solidFill>
              </a:rPr>
              <a:t>RESULT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72016" y="342900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8706A"/>
                </a:solidFill>
              </a:rPr>
              <a:t>Overlay, inspect, export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846320"/>
            <a:ext cx="9464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312B"/>
                </a:solidFill>
              </a:rPr>
              <a:t>The tool result becomes another map layer, so it participates in the same visibility and sharing model.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F6B5B"/>
                </a:solidFill>
              </a:rPr>
              <a:t>PRINCIPLES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312B"/>
                </a:solidFill>
              </a:rPr>
              <a:t>Design philosophy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376672" cy="1737360"/>
          </a:xfrm>
          <a:prstGeom prst="roundRect">
            <a:avLst>
              <a:gd name="adj" fmla="val 4211"/>
            </a:avLst>
          </a:prstGeom>
          <a:solidFill>
            <a:srgbClr val="DCE9E3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00200"/>
            <a:ext cx="73152" cy="365760"/>
          </a:xfrm>
          <a:prstGeom prst="rect">
            <a:avLst/>
          </a:prstGeom>
          <a:solidFill>
            <a:srgbClr val="2F6B5B"/>
          </a:solidFill>
          <a:ln w="12700">
            <a:solidFill>
              <a:srgbClr val="2F6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CONFIGURATION-FIRST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2112264"/>
            <a:ext cx="4919472" cy="8778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Add capabilities through registries and reusable definitions.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73368" y="1417320"/>
            <a:ext cx="5376672" cy="1737360"/>
          </a:xfrm>
          <a:prstGeom prst="roundRect">
            <a:avLst>
              <a:gd name="adj" fmla="val 4211"/>
            </a:avLst>
          </a:prstGeom>
          <a:solidFill>
            <a:srgbClr val="DDEAF1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600200"/>
            <a:ext cx="73152" cy="365760"/>
          </a:xfrm>
          <a:prstGeom prst="rect">
            <a:avLst/>
          </a:prstGeom>
          <a:solidFill>
            <a:srgbClr val="2F6B5B"/>
          </a:solidFill>
          <a:ln w="12700">
            <a:solidFill>
              <a:srgbClr val="2F6B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6002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PROGRESSIVE DISCLOSURE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01968" y="2112264"/>
            <a:ext cx="4919472" cy="8778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Show controls only when their layer or family is active.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566160"/>
            <a:ext cx="5376672" cy="1737360"/>
          </a:xfrm>
          <a:prstGeom prst="roundRect">
            <a:avLst>
              <a:gd name="adj" fmla="val 4211"/>
            </a:avLst>
          </a:prstGeom>
          <a:solidFill>
            <a:srgbClr val="DCE9E3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749040"/>
            <a:ext cx="73152" cy="365760"/>
          </a:xfrm>
          <a:prstGeom prst="rect">
            <a:avLst/>
          </a:prstGeom>
          <a:solidFill>
            <a:srgbClr val="A8735D"/>
          </a:solidFill>
          <a:ln w="12700">
            <a:solidFill>
              <a:srgbClr val="A873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STABLE IDENTITY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6968" y="4261104"/>
            <a:ext cx="4919472" cy="8778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Keep project, layer, and bookmark identifiers durable.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73368" y="3566160"/>
            <a:ext cx="5376672" cy="1737360"/>
          </a:xfrm>
          <a:prstGeom prst="roundRect">
            <a:avLst>
              <a:gd name="adj" fmla="val 4211"/>
            </a:avLst>
          </a:prstGeom>
          <a:solidFill>
            <a:srgbClr val="DDEAF1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3749040"/>
            <a:ext cx="73152" cy="365760"/>
          </a:xfrm>
          <a:prstGeom prst="rect">
            <a:avLst/>
          </a:prstGeom>
          <a:solidFill>
            <a:srgbClr val="A8735D"/>
          </a:solidFill>
          <a:ln w="12700">
            <a:solidFill>
              <a:srgbClr val="A873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7490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COMPOSABLE INTERACTION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01968" y="4261104"/>
            <a:ext cx="4919472" cy="8778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Map, popup, legend, and tools share the same state model.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F6B5B"/>
                </a:solidFill>
              </a:rPr>
              <a:t>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312B"/>
                </a:solidFill>
              </a:rPr>
              <a:t>Software stack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529584" cy="448056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64208"/>
            <a:ext cx="73152" cy="365760"/>
          </a:xfrm>
          <a:prstGeom prst="rect">
            <a:avLst/>
          </a:prstGeom>
          <a:solidFill>
            <a:srgbClr val="2F6B5B"/>
          </a:solidFill>
          <a:ln w="12700">
            <a:solidFill>
              <a:srgbClr val="2F6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64208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Interaction + UI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176272"/>
            <a:ext cx="3072384" cy="3621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React 19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Vite 8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React Map GL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Date and control components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QR/share utilities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34256" y="1481328"/>
            <a:ext cx="3529584" cy="448056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98848" y="1664208"/>
            <a:ext cx="73152" cy="365760"/>
          </a:xfrm>
          <a:prstGeom prst="rect">
            <a:avLst/>
          </a:prstGeom>
          <a:solidFill>
            <a:srgbClr val="477D96"/>
          </a:solidFill>
          <a:ln w="12700">
            <a:solidFill>
              <a:srgbClr val="477D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664208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Rendering + analysis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62856" y="2176272"/>
            <a:ext cx="3072384" cy="3621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MapLibre GL JS 5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Three.js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Plotly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GeoJSON and custom layers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2D, terrain, globe, 3D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28432" y="1481328"/>
            <a:ext cx="3529584" cy="448056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93024" y="1664208"/>
            <a:ext cx="73152" cy="365760"/>
          </a:xfrm>
          <a:prstGeom prst="rect">
            <a:avLst/>
          </a:prstGeom>
          <a:solidFill>
            <a:srgbClr val="A8735D"/>
          </a:solidFill>
          <a:ln w="12700">
            <a:solidFill>
              <a:srgbClr val="A873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664208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Data + delivery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57032" y="2176272"/>
            <a:ext cx="3072384" cy="36210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PMTiles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Raster tile/overlay services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JSON and CSV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Python NetCDF conversion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Static-web deployment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F6B5B"/>
                </a:solidFill>
              </a:rPr>
              <a:t>DEVELOPMENT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312B"/>
                </a:solidFill>
              </a:rPr>
              <a:t>AI agents accelerate work when the workflow is explicit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13232" y="1554480"/>
            <a:ext cx="3364992" cy="2926080"/>
          </a:xfrm>
          <a:prstGeom prst="roundRect">
            <a:avLst>
              <a:gd name="adj" fmla="val 2500"/>
            </a:avLst>
          </a:prstGeom>
          <a:solidFill>
            <a:srgbClr val="DCE9E3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737360"/>
            <a:ext cx="73152" cy="365760"/>
          </a:xfrm>
          <a:prstGeom prst="rect">
            <a:avLst/>
          </a:prstGeom>
          <a:solidFill>
            <a:srgbClr val="2F6B5B"/>
          </a:solidFill>
          <a:ln w="12700">
            <a:solidFill>
              <a:srgbClr val="2F6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7373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INSPECT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41832" y="2249424"/>
            <a:ext cx="2907792" cy="2066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Read nearby patterns, configs, docs, and current state.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69664" y="2834640"/>
            <a:ext cx="274320" cy="310896"/>
          </a:xfrm>
          <a:prstGeom prst="chevron">
            <a:avLst/>
          </a:prstGeom>
          <a:solidFill>
            <a:srgbClr val="92AAA3"/>
          </a:solidFill>
          <a:ln w="12700">
            <a:solidFill>
              <a:srgbClr val="92AA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17136" y="1554480"/>
            <a:ext cx="3364992" cy="2926080"/>
          </a:xfrm>
          <a:prstGeom prst="roundRect">
            <a:avLst>
              <a:gd name="adj" fmla="val 2500"/>
            </a:avLst>
          </a:prstGeom>
          <a:solidFill>
            <a:srgbClr val="DDEAF1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737360"/>
            <a:ext cx="73152" cy="365760"/>
          </a:xfrm>
          <a:prstGeom prst="rect">
            <a:avLst/>
          </a:prstGeom>
          <a:solidFill>
            <a:srgbClr val="477D96"/>
          </a:solidFill>
          <a:ln w="12700">
            <a:solidFill>
              <a:srgbClr val="477D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7373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IMPLEMENT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45736" y="2249424"/>
            <a:ext cx="2907792" cy="2066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Make a small scoped change using existing abstractions.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73568" y="2834640"/>
            <a:ext cx="274320" cy="310896"/>
          </a:xfrm>
          <a:prstGeom prst="chevron">
            <a:avLst/>
          </a:prstGeom>
          <a:solidFill>
            <a:srgbClr val="92AAA3"/>
          </a:solidFill>
          <a:ln w="12700">
            <a:solidFill>
              <a:srgbClr val="92AA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554480"/>
            <a:ext cx="3364992" cy="2926080"/>
          </a:xfrm>
          <a:prstGeom prst="roundRect">
            <a:avLst>
              <a:gd name="adj" fmla="val 2500"/>
            </a:avLst>
          </a:prstGeom>
          <a:solidFill>
            <a:srgbClr val="EFE4D5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85632" y="1737360"/>
            <a:ext cx="73152" cy="365760"/>
          </a:xfrm>
          <a:prstGeom prst="rect">
            <a:avLst/>
          </a:prstGeom>
          <a:solidFill>
            <a:srgbClr val="A8735D"/>
          </a:solidFill>
          <a:ln w="12700">
            <a:solidFill>
              <a:srgbClr val="A873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68512" y="17373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VERIFY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49640" y="2249424"/>
            <a:ext cx="2907792" cy="20665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Build, test bookmarks, and inspect map behavior.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143000" y="4956048"/>
            <a:ext cx="9921240" cy="713232"/>
          </a:xfrm>
          <a:prstGeom prst="roundRect">
            <a:avLst>
              <a:gd name="adj" fmla="val 6410"/>
            </a:avLst>
          </a:prstGeom>
          <a:solidFill>
            <a:srgbClr val="163B33"/>
          </a:solidFill>
          <a:ln w="12700">
            <a:solidFill>
              <a:srgbClr val="163B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44752" y="517550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PROJECT SKILL = repeatable instructions + known registries + validation checklist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F6B5B"/>
                </a:solidFill>
              </a:rPr>
              <a:t>INVENTORY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312B"/>
                </a:solidFill>
              </a:rPr>
              <a:t>Current projects — 7 composed experiences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3529584" cy="452628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27632"/>
            <a:ext cx="73152" cy="365760"/>
          </a:xfrm>
          <a:prstGeom prst="rect">
            <a:avLst/>
          </a:prstGeom>
          <a:solidFill>
            <a:srgbClr val="2F6B5B"/>
          </a:solidFill>
          <a:ln w="12700">
            <a:solidFill>
              <a:srgbClr val="2F6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2763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FORECAST + BASINS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2139696"/>
            <a:ext cx="3072384" cy="3666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CNRFC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B120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Yampa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34256" y="1444752"/>
            <a:ext cx="3529584" cy="452628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98848" y="1627632"/>
            <a:ext cx="73152" cy="365760"/>
          </a:xfrm>
          <a:prstGeom prst="rect">
            <a:avLst/>
          </a:prstGeom>
          <a:solidFill>
            <a:srgbClr val="477D96"/>
          </a:solidFill>
          <a:ln w="12700">
            <a:solidFill>
              <a:srgbClr val="477D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62763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OBSERVATIONS + OPERATIONS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62856" y="2139696"/>
            <a:ext cx="3072384" cy="3666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AR Recon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CW3E Observations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10144" y="1444752"/>
            <a:ext cx="3529584" cy="452628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74736" y="1627632"/>
            <a:ext cx="73152" cy="365760"/>
          </a:xfrm>
          <a:prstGeom prst="rect">
            <a:avLst/>
          </a:prstGeom>
          <a:solidFill>
            <a:srgbClr val="A8735D"/>
          </a:solidFill>
          <a:ln w="12700">
            <a:solidFill>
              <a:srgbClr val="A873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162763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APPLIED + GLOBAL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38744" y="2139696"/>
            <a:ext cx="3072384" cy="3666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OCWD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Global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F6B5B"/>
                </a:solidFill>
              </a:rPr>
              <a:t>INVENTORY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312B"/>
                </a:solidFill>
              </a:rPr>
              <a:t>Current layer families — 4 coordinated control sets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389888"/>
            <a:ext cx="5376672" cy="1920240"/>
          </a:xfrm>
          <a:prstGeom prst="roundRect">
            <a:avLst>
              <a:gd name="adj" fmla="val 3810"/>
            </a:avLst>
          </a:prstGeom>
          <a:solidFill>
            <a:srgbClr val="DCE9E3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572768"/>
            <a:ext cx="73152" cy="365760"/>
          </a:xfrm>
          <a:prstGeom prst="rect">
            <a:avLst/>
          </a:prstGeom>
          <a:solidFill>
            <a:srgbClr val="2F6B5B"/>
          </a:solidFill>
          <a:ln w="12700">
            <a:solidFill>
              <a:srgbClr val="2F6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727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AR Recon Flights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2084832"/>
            <a:ext cx="4919472" cy="10607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3D flight and dropsonde layers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Year • flight • aircraft • sondes • vertical exaggeration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389888"/>
            <a:ext cx="5376672" cy="1920240"/>
          </a:xfrm>
          <a:prstGeom prst="roundRect">
            <a:avLst>
              <a:gd name="adj" fmla="val 3810"/>
            </a:avLst>
          </a:prstGeom>
          <a:solidFill>
            <a:srgbClr val="DDEAF1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36792" y="1572768"/>
            <a:ext cx="73152" cy="365760"/>
          </a:xfrm>
          <a:prstGeom prst="rect">
            <a:avLst/>
          </a:prstGeom>
          <a:solidFill>
            <a:srgbClr val="477D96"/>
          </a:solidFill>
          <a:ln w="12700">
            <a:solidFill>
              <a:srgbClr val="477D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5727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CNRFC Hydro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2084832"/>
            <a:ext cx="4919472" cy="10607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Raster + linked streamflow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Variable • date • product • ensemble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675888"/>
            <a:ext cx="5376672" cy="1920240"/>
          </a:xfrm>
          <a:prstGeom prst="roundRect">
            <a:avLst>
              <a:gd name="adj" fmla="val 3810"/>
            </a:avLst>
          </a:prstGeom>
          <a:solidFill>
            <a:srgbClr val="EFE4D5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858768"/>
            <a:ext cx="73152" cy="365760"/>
          </a:xfrm>
          <a:prstGeom prst="rect">
            <a:avLst/>
          </a:prstGeom>
          <a:solidFill>
            <a:srgbClr val="A8735D"/>
          </a:solidFill>
          <a:ln w="12700">
            <a:solidFill>
              <a:srgbClr val="A873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587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UCRB Hydro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6968" y="4370832"/>
            <a:ext cx="4919472" cy="10607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Regional raster products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Variable • date • product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675888"/>
            <a:ext cx="5376672" cy="1920240"/>
          </a:xfrm>
          <a:prstGeom prst="roundRect">
            <a:avLst>
              <a:gd name="adj" fmla="val 3810"/>
            </a:avLst>
          </a:prstGeom>
          <a:solidFill>
            <a:srgbClr val="EEF2F0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36792" y="3858768"/>
            <a:ext cx="73152" cy="365760"/>
          </a:xfrm>
          <a:prstGeom prst="rect">
            <a:avLst/>
          </a:prstGeom>
          <a:solidFill>
            <a:srgbClr val="6F7C45"/>
          </a:solidFill>
          <a:ln w="12700">
            <a:solidFill>
              <a:srgbClr val="6F7C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38587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Global Hydro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4370832"/>
            <a:ext cx="4919472" cy="10607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Global raster + linked GRADES-hydroDL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Variable • date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F6B5B"/>
                </a:solidFill>
              </a:rPr>
              <a:t>LAYER INVENTORY 1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312B"/>
                </a:solidFill>
              </a:rPr>
              <a:t>Current layers — 3D, raster, regions, and observations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21792" y="1325880"/>
            <a:ext cx="2743200" cy="4846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508760"/>
            <a:ext cx="73152" cy="365760"/>
          </a:xfrm>
          <a:prstGeom prst="rect">
            <a:avLst/>
          </a:prstGeom>
          <a:solidFill>
            <a:srgbClr val="2F6B5B"/>
          </a:solidFill>
          <a:ln w="12700">
            <a:solidFill>
              <a:srgbClr val="2F6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50876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3D + RASTER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0392" y="2020824"/>
            <a:ext cx="2286000" cy="39867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AR Recon 3D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CNRFC Rasters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UCRB Rasters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Global Rasters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547872" y="1325880"/>
            <a:ext cx="2743200" cy="4846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12464" y="1508760"/>
            <a:ext cx="73152" cy="365760"/>
          </a:xfrm>
          <a:prstGeom prst="rect">
            <a:avLst/>
          </a:prstGeom>
          <a:solidFill>
            <a:srgbClr val="477D96"/>
          </a:solidFill>
          <a:ln w="12700">
            <a:solidFill>
              <a:srgbClr val="477D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95344" y="150876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REGIONS + BASINS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76472" y="2020824"/>
            <a:ext cx="2286000" cy="39867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CNRFC Region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UCRB Region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Yampa Region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OCWD Property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OCWD Prado Basin (566’)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CNRFC Basins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B120 Basins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73952" y="1325880"/>
            <a:ext cx="2423160" cy="48463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38544" y="1508760"/>
            <a:ext cx="73152" cy="365760"/>
          </a:xfrm>
          <a:prstGeom prst="rect">
            <a:avLst/>
          </a:prstGeom>
          <a:solidFill>
            <a:srgbClr val="A8735D"/>
          </a:solidFill>
          <a:ln w="12700">
            <a:solidFill>
              <a:srgbClr val="A873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1424" y="1508760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POINTS + OBS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02552" y="2020824"/>
            <a:ext cx="1965960" cy="39867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Yampa Points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CNRFC Points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CW3E Met Obs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B120 Points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Snow Courses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Snow Pillows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079992" y="1325880"/>
            <a:ext cx="2487168" cy="48463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44584" y="1508760"/>
            <a:ext cx="73152" cy="365760"/>
          </a:xfrm>
          <a:prstGeom prst="rect">
            <a:avLst/>
          </a:prstGeom>
          <a:solidFill>
            <a:srgbClr val="6F7C45"/>
          </a:solidFill>
          <a:ln w="12700">
            <a:solidFill>
              <a:srgbClr val="6F7C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27464" y="150876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LOCAL THEMES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08592" y="2020824"/>
            <a:ext cx="2029968" cy="39867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OCWD Monitoring Wells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OCWD Wetlands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CNRFC Streamflow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F6B5B"/>
                </a:solidFill>
              </a:rPr>
              <a:t>LAYER INVENTORY 2 OF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8312B"/>
                </a:solidFill>
              </a:rPr>
              <a:t>Current layers — river networks and global hydrography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511296" cy="452628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00200"/>
            <a:ext cx="73152" cy="365760"/>
          </a:xfrm>
          <a:prstGeom prst="rect">
            <a:avLst/>
          </a:prstGeom>
          <a:solidFill>
            <a:srgbClr val="2F6B5B"/>
          </a:solidFill>
          <a:ln w="12700">
            <a:solidFill>
              <a:srgbClr val="2F6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00200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NWM NETWORKS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2112264"/>
            <a:ext cx="3054096" cy="3666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NWM Rivers (CNRFC)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NWM Rivers (CONUS)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NWM Rivers (UCRB)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11296" cy="452628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07992" y="1600200"/>
            <a:ext cx="73152" cy="365760"/>
          </a:xfrm>
          <a:prstGeom prst="rect">
            <a:avLst/>
          </a:prstGeom>
          <a:solidFill>
            <a:srgbClr val="477D96"/>
          </a:solidFill>
          <a:ln w="12700">
            <a:solidFill>
              <a:srgbClr val="477D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600200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BASINS + CHANNELS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2112264"/>
            <a:ext cx="3054096" cy="3666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HUC Basins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SWORD Reaches (v17b)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MERIT Basins (v1.0)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HydroRIVERS (v1.0)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GRIT (v0.6)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28432" y="1417320"/>
            <a:ext cx="3511296" cy="452628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0160">
            <a:solidFill>
              <a:srgbClr val="D5DEDA"/>
            </a:solidFill>
            <a:prstDash val="solid"/>
          </a:ln>
          <a:effectLst>
            <a:outerShdw sx="100000" sy="100000" kx="0" ky="0" algn="bl" rotWithShape="0" blurRad="12700" dist="50800" dir="2700000">
              <a:srgbClr val="9EABA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93024" y="1600200"/>
            <a:ext cx="73152" cy="365760"/>
          </a:xfrm>
          <a:prstGeom prst="rect">
            <a:avLst/>
          </a:prstGeom>
          <a:solidFill>
            <a:srgbClr val="A8735D"/>
          </a:solidFill>
          <a:ln w="12700">
            <a:solidFill>
              <a:srgbClr val="A873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600200"/>
            <a:ext cx="2980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8312B"/>
                </a:solidFill>
              </a:rPr>
              <a:t>GLOBAL DATASETS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57032" y="2112264"/>
            <a:ext cx="3054096" cy="3666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GRADES-hydroDL (v2.0 static)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GRADES-hydroDL (v2.0)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Cama-Flood (6min)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GSHA (v1.1)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8706A"/>
                </a:solidFill>
              </a:rPr>
              <a:t>GeoDAR (v1.1)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3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143000"/>
            <a:ext cx="6812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ONE FRAMEWORK.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MANY DATASETS.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REPRODUCIBLE VIEWS.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3703320"/>
            <a:ext cx="6629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E5E0"/>
                </a:solidFill>
              </a:rPr>
              <a:t>Add a reusable layer → coordinate it as a family → compose it into a project → share the exact analytical state.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412480" y="118872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DCE9E3"/>
          </a:solidFill>
          <a:ln w="12700">
            <a:solidFill>
              <a:srgbClr val="DCE9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14232" y="1773936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8312B"/>
                </a:solidFill>
              </a:rPr>
              <a:t>EXPLORE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8312B"/>
                </a:solidFill>
              </a:rPr>
              <a:t>INSPECT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18312B"/>
                </a:solidFill>
              </a:rPr>
              <a:t>SHARE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32104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C1B4"/>
                </a:solidFill>
              </a:rPr>
              <a:t>Website demonstrations follow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1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UC San Diego / CW3E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Hydrometeorological Mapping</dc:title>
  <dc:subject>Interactive hydrometeorological mapping platform</dc:subject>
  <dc:creator>CW3E / Hydromet Map</dc:creator>
  <cp:lastModifiedBy>CW3E / Hydromet Map</cp:lastModifiedBy>
  <cp:revision>1</cp:revision>
  <dcterms:created xsi:type="dcterms:W3CDTF">2026-08-11T08:37:20Z</dcterms:created>
  <dcterms:modified xsi:type="dcterms:W3CDTF">2026-08-11T08:37:20Z</dcterms:modified>
</cp:coreProperties>
</file>